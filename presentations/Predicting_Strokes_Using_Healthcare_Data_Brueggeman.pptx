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57" r:id="rId3"/>
    <p:sldId id="267" r:id="rId4"/>
    <p:sldId id="258" r:id="rId5"/>
    <p:sldId id="260" r:id="rId6"/>
    <p:sldId id="259" r:id="rId7"/>
    <p:sldId id="262" r:id="rId8"/>
    <p:sldId id="263" r:id="rId9"/>
    <p:sldId id="268" r:id="rId10"/>
    <p:sldId id="269"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2" autoAdjust="0"/>
    <p:restoredTop sz="94660"/>
  </p:normalViewPr>
  <p:slideViewPr>
    <p:cSldViewPr>
      <p:cViewPr varScale="1">
        <p:scale>
          <a:sx n="107" d="100"/>
          <a:sy n="107" d="100"/>
        </p:scale>
        <p:origin x="750" y="114"/>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12/11/2025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12/11/2025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12/11/2025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12/11/2025</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12/11/2025</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12/11/2025</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12/11/2025</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12/11/2025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12/11/2025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12/11/2025</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ublicdomainpictures.net/view-image.php?image=34596&amp;picture=question-mark" TargetMode="External"/><Relationship Id="rId2" Type="http://schemas.openxmlformats.org/officeDocument/2006/relationships/image" Target="../media/image9.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Predicting Strokes Based on Healthcare Data</a:t>
            </a:r>
          </a:p>
        </p:txBody>
      </p:sp>
      <p:sp>
        <p:nvSpPr>
          <p:cNvPr id="3" name="Subtitle 2"/>
          <p:cNvSpPr>
            <a:spLocks noGrp="1"/>
          </p:cNvSpPr>
          <p:nvPr>
            <p:ph type="subTitle" idx="1"/>
          </p:nvPr>
        </p:nvSpPr>
        <p:spPr/>
        <p:txBody>
          <a:bodyPr/>
          <a:lstStyle/>
          <a:p>
            <a:r>
              <a:rPr lang="en-US" dirty="0"/>
              <a:t>Collin Brueggeman</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 and Project Context</a:t>
            </a:r>
          </a:p>
        </p:txBody>
      </p:sp>
      <p:sp>
        <p:nvSpPr>
          <p:cNvPr id="3" name="Content Placeholder 2"/>
          <p:cNvSpPr>
            <a:spLocks noGrp="1"/>
          </p:cNvSpPr>
          <p:nvPr>
            <p:ph idx="1"/>
          </p:nvPr>
        </p:nvSpPr>
        <p:spPr/>
        <p:txBody>
          <a:bodyPr/>
          <a:lstStyle/>
          <a:p>
            <a:r>
              <a:rPr lang="en-US" dirty="0"/>
              <a:t>Stroke is one of the leading causes of death and disability worldwide. Early prediction of stroke risk can lead to preventive healthcare interventions and reduce healthcare costs. Existing research shows that machine learning models can effectively identify high-risk individuals using health and lifestyle indicators.</a:t>
            </a:r>
          </a:p>
          <a:p>
            <a:r>
              <a:rPr lang="en-US" dirty="0"/>
              <a:t>The objective of this project is to use predictive analytics to develop a model that predicts the likelihood of stroke occurrence based on patient health attributes. This application of predictive analytics has practical significance for healthcare providers seeking to provide preventive care resources more effectively and can also help individuals make better health decisions.</a:t>
            </a: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F3E27-6A75-7656-5F60-84F335C38EFD}"/>
              </a:ext>
            </a:extLst>
          </p:cNvPr>
          <p:cNvSpPr>
            <a:spLocks noGrp="1"/>
          </p:cNvSpPr>
          <p:nvPr>
            <p:ph type="title"/>
          </p:nvPr>
        </p:nvSpPr>
        <p:spPr/>
        <p:txBody>
          <a:bodyPr/>
          <a:lstStyle/>
          <a:p>
            <a:r>
              <a:rPr lang="en-US" dirty="0"/>
              <a:t>Critical Prior Work</a:t>
            </a:r>
          </a:p>
        </p:txBody>
      </p:sp>
      <p:sp>
        <p:nvSpPr>
          <p:cNvPr id="3" name="Content Placeholder 2">
            <a:extLst>
              <a:ext uri="{FF2B5EF4-FFF2-40B4-BE49-F238E27FC236}">
                <a16:creationId xmlns:a16="http://schemas.microsoft.com/office/drawing/2014/main" id="{606380FB-832F-700A-78BB-AC6513D7B711}"/>
              </a:ext>
            </a:extLst>
          </p:cNvPr>
          <p:cNvSpPr>
            <a:spLocks noGrp="1"/>
          </p:cNvSpPr>
          <p:nvPr>
            <p:ph idx="1"/>
          </p:nvPr>
        </p:nvSpPr>
        <p:spPr/>
        <p:txBody>
          <a:bodyPr/>
          <a:lstStyle/>
          <a:p>
            <a:r>
              <a:rPr lang="en-US" dirty="0"/>
              <a:t>Dataset Acquisition: “Stroke Prediction Dataset” from Kaggle. 5110 patient records, 12 features.</a:t>
            </a:r>
          </a:p>
          <a:p>
            <a:r>
              <a:rPr lang="en-US" dirty="0"/>
              <a:t>EDA Insights</a:t>
            </a:r>
          </a:p>
          <a:p>
            <a:pPr lvl="1"/>
            <a:r>
              <a:rPr lang="en-US" dirty="0"/>
              <a:t>Class Imbalance (only 4.87% strokes)</a:t>
            </a:r>
          </a:p>
          <a:p>
            <a:pPr lvl="1"/>
            <a:r>
              <a:rPr lang="en-US" dirty="0"/>
              <a:t>Correlation Analysis: Age(0.25), Hypertension(0.13), heart disease(0.13)</a:t>
            </a:r>
          </a:p>
          <a:p>
            <a:pPr lvl="1"/>
            <a:r>
              <a:rPr lang="en-US" dirty="0"/>
              <a:t>PCA: &gt; 0.99 of variance explained by average glucose level, age, and BMI.</a:t>
            </a:r>
          </a:p>
        </p:txBody>
      </p:sp>
    </p:spTree>
    <p:extLst>
      <p:ext uri="{BB962C8B-B14F-4D97-AF65-F5344CB8AC3E}">
        <p14:creationId xmlns:p14="http://schemas.microsoft.com/office/powerpoint/2010/main" val="275506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Preparation Summary</a:t>
            </a:r>
          </a:p>
        </p:txBody>
      </p:sp>
      <p:sp>
        <p:nvSpPr>
          <p:cNvPr id="4" name="Content Placeholder 3">
            <a:extLst>
              <a:ext uri="{FF2B5EF4-FFF2-40B4-BE49-F238E27FC236}">
                <a16:creationId xmlns:a16="http://schemas.microsoft.com/office/drawing/2014/main" id="{01B01564-8109-64F0-5F59-DA382DD31B9B}"/>
              </a:ext>
            </a:extLst>
          </p:cNvPr>
          <p:cNvSpPr>
            <a:spLocks noGrp="1"/>
          </p:cNvSpPr>
          <p:nvPr>
            <p:ph idx="1"/>
          </p:nvPr>
        </p:nvSpPr>
        <p:spPr/>
        <p:txBody>
          <a:bodyPr/>
          <a:lstStyle/>
          <a:p>
            <a:r>
              <a:rPr lang="en-US" dirty="0"/>
              <a:t>Missing Values: Imputed using median imputation</a:t>
            </a:r>
          </a:p>
          <a:p>
            <a:r>
              <a:rPr lang="en-US" dirty="0"/>
              <a:t>Outliers: Handled by capping to 99</a:t>
            </a:r>
            <a:r>
              <a:rPr lang="en-US" baseline="30000" dirty="0"/>
              <a:t>th</a:t>
            </a:r>
            <a:r>
              <a:rPr lang="en-US" dirty="0"/>
              <a:t> percentile</a:t>
            </a:r>
          </a:p>
          <a:p>
            <a:r>
              <a:rPr lang="en-US" dirty="0"/>
              <a:t>Irrelevant fields were dropped (id)</a:t>
            </a:r>
          </a:p>
          <a:p>
            <a:r>
              <a:rPr lang="en-US" dirty="0"/>
              <a:t>Encoding:</a:t>
            </a:r>
          </a:p>
          <a:p>
            <a:pPr lvl="1"/>
            <a:r>
              <a:rPr lang="en-US" dirty="0"/>
              <a:t>Binary Encoding</a:t>
            </a:r>
          </a:p>
          <a:p>
            <a:pPr lvl="1"/>
            <a:r>
              <a:rPr lang="en-US" dirty="0"/>
              <a:t>One-hot Encoding</a:t>
            </a:r>
          </a:p>
          <a:p>
            <a:r>
              <a:rPr lang="en-US" dirty="0"/>
              <a:t>Feature Scaling: Done with </a:t>
            </a:r>
            <a:r>
              <a:rPr lang="en-US" dirty="0" err="1"/>
              <a:t>StandardScaler</a:t>
            </a:r>
            <a:r>
              <a:rPr lang="en-US" dirty="0"/>
              <a:t>()</a:t>
            </a:r>
          </a:p>
          <a:p>
            <a:r>
              <a:rPr lang="en-US" dirty="0"/>
              <a:t>Class Imbalance: SMOTE</a:t>
            </a:r>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Before vs After</a:t>
            </a:r>
          </a:p>
        </p:txBody>
      </p:sp>
      <p:sp>
        <p:nvSpPr>
          <p:cNvPr id="6" name="Content Placeholder 5">
            <a:extLst>
              <a:ext uri="{FF2B5EF4-FFF2-40B4-BE49-F238E27FC236}">
                <a16:creationId xmlns:a16="http://schemas.microsoft.com/office/drawing/2014/main" id="{83F01FC7-3CA7-D536-8711-02C1AD45A420}"/>
              </a:ext>
            </a:extLst>
          </p:cNvPr>
          <p:cNvSpPr>
            <a:spLocks noGrp="1"/>
          </p:cNvSpPr>
          <p:nvPr>
            <p:ph sz="half" idx="1"/>
          </p:nvPr>
        </p:nvSpPr>
        <p:spPr/>
        <p:txBody>
          <a:bodyPr/>
          <a:lstStyle/>
          <a:p>
            <a:endParaRPr lang="en-US"/>
          </a:p>
        </p:txBody>
      </p:sp>
      <p:pic>
        <p:nvPicPr>
          <p:cNvPr id="8" name="Picture 7">
            <a:extLst>
              <a:ext uri="{FF2B5EF4-FFF2-40B4-BE49-F238E27FC236}">
                <a16:creationId xmlns:a16="http://schemas.microsoft.com/office/drawing/2014/main" id="{05B92818-6340-6AEB-8394-10B08D9059D7}"/>
              </a:ext>
            </a:extLst>
          </p:cNvPr>
          <p:cNvPicPr>
            <a:picLocks noChangeAspect="1"/>
          </p:cNvPicPr>
          <p:nvPr/>
        </p:nvPicPr>
        <p:blipFill>
          <a:blip r:embed="rId2"/>
          <a:stretch>
            <a:fillRect/>
          </a:stretch>
        </p:blipFill>
        <p:spPr>
          <a:xfrm>
            <a:off x="1571360" y="2369892"/>
            <a:ext cx="3791479" cy="3486637"/>
          </a:xfrm>
          <a:prstGeom prst="rect">
            <a:avLst/>
          </a:prstGeom>
        </p:spPr>
      </p:pic>
      <p:sp>
        <p:nvSpPr>
          <p:cNvPr id="10" name="Content Placeholder 9">
            <a:extLst>
              <a:ext uri="{FF2B5EF4-FFF2-40B4-BE49-F238E27FC236}">
                <a16:creationId xmlns:a16="http://schemas.microsoft.com/office/drawing/2014/main" id="{3EE881BA-4BC9-8143-7170-ABFA39401571}"/>
              </a:ext>
            </a:extLst>
          </p:cNvPr>
          <p:cNvSpPr>
            <a:spLocks noGrp="1"/>
          </p:cNvSpPr>
          <p:nvPr>
            <p:ph sz="half" idx="2"/>
          </p:nvPr>
        </p:nvSpPr>
        <p:spPr/>
        <p:txBody>
          <a:bodyPr/>
          <a:lstStyle/>
          <a:p>
            <a:endParaRPr lang="en-US"/>
          </a:p>
        </p:txBody>
      </p:sp>
      <p:pic>
        <p:nvPicPr>
          <p:cNvPr id="12" name="Picture 11">
            <a:extLst>
              <a:ext uri="{FF2B5EF4-FFF2-40B4-BE49-F238E27FC236}">
                <a16:creationId xmlns:a16="http://schemas.microsoft.com/office/drawing/2014/main" id="{EFC99379-B439-0636-DE84-CE204B9B6360}"/>
              </a:ext>
            </a:extLst>
          </p:cNvPr>
          <p:cNvPicPr>
            <a:picLocks noChangeAspect="1"/>
          </p:cNvPicPr>
          <p:nvPr/>
        </p:nvPicPr>
        <p:blipFill>
          <a:blip r:embed="rId3"/>
          <a:stretch>
            <a:fillRect/>
          </a:stretch>
        </p:blipFill>
        <p:spPr>
          <a:xfrm>
            <a:off x="6829598" y="2318681"/>
            <a:ext cx="3790603" cy="3589058"/>
          </a:xfrm>
          <a:prstGeom prst="rect">
            <a:avLst/>
          </a:prstGeom>
        </p:spPr>
      </p:pic>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Deployment</a:t>
            </a:r>
          </a:p>
        </p:txBody>
      </p:sp>
      <p:sp>
        <p:nvSpPr>
          <p:cNvPr id="3" name="Content Placeholder 2"/>
          <p:cNvSpPr>
            <a:spLocks noGrp="1"/>
          </p:cNvSpPr>
          <p:nvPr>
            <p:ph sz="half" idx="1"/>
          </p:nvPr>
        </p:nvSpPr>
        <p:spPr/>
        <p:txBody>
          <a:bodyPr/>
          <a:lstStyle/>
          <a:p>
            <a:r>
              <a:rPr lang="en-US" dirty="0"/>
              <a:t>Logistic Regression</a:t>
            </a:r>
          </a:p>
          <a:p>
            <a:pPr lvl="1"/>
            <a:r>
              <a:rPr lang="en-US" dirty="0"/>
              <a:t>Strong baseline</a:t>
            </a:r>
          </a:p>
          <a:p>
            <a:pPr lvl="1"/>
            <a:r>
              <a:rPr lang="en-US" dirty="0"/>
              <a:t>Interpretable coefficients</a:t>
            </a:r>
          </a:p>
          <a:p>
            <a:r>
              <a:rPr lang="en-US" dirty="0"/>
              <a:t>SVM</a:t>
            </a:r>
          </a:p>
          <a:p>
            <a:pPr lvl="1"/>
            <a:r>
              <a:rPr lang="en-US" dirty="0"/>
              <a:t>Kernel functions allow SVM to capture complex decision boundaries.</a:t>
            </a:r>
          </a:p>
          <a:p>
            <a:r>
              <a:rPr lang="en-US" dirty="0"/>
              <a:t>Decision Tree</a:t>
            </a:r>
          </a:p>
          <a:p>
            <a:pPr lvl="1"/>
            <a:r>
              <a:rPr lang="en-US" dirty="0"/>
              <a:t>Very interpretable</a:t>
            </a:r>
          </a:p>
        </p:txBody>
      </p:sp>
      <p:pic>
        <p:nvPicPr>
          <p:cNvPr id="5" name="Picture 4">
            <a:extLst>
              <a:ext uri="{FF2B5EF4-FFF2-40B4-BE49-F238E27FC236}">
                <a16:creationId xmlns:a16="http://schemas.microsoft.com/office/drawing/2014/main" id="{3537ABAA-441C-D076-6C34-9CD14E98EDB7}"/>
              </a:ext>
            </a:extLst>
          </p:cNvPr>
          <p:cNvPicPr>
            <a:picLocks noChangeAspect="1"/>
          </p:cNvPicPr>
          <p:nvPr/>
        </p:nvPicPr>
        <p:blipFill>
          <a:blip r:embed="rId2"/>
          <a:stretch>
            <a:fillRect/>
          </a:stretch>
        </p:blipFill>
        <p:spPr>
          <a:xfrm>
            <a:off x="8534400" y="1623217"/>
            <a:ext cx="2048161" cy="1362265"/>
          </a:xfrm>
          <a:prstGeom prst="rect">
            <a:avLst/>
          </a:prstGeom>
        </p:spPr>
      </p:pic>
      <p:pic>
        <p:nvPicPr>
          <p:cNvPr id="10" name="Picture 9">
            <a:extLst>
              <a:ext uri="{FF2B5EF4-FFF2-40B4-BE49-F238E27FC236}">
                <a16:creationId xmlns:a16="http://schemas.microsoft.com/office/drawing/2014/main" id="{4AD625FA-4856-FBCC-E7C0-EEE9E9799DF2}"/>
              </a:ext>
            </a:extLst>
          </p:cNvPr>
          <p:cNvPicPr>
            <a:picLocks noChangeAspect="1"/>
          </p:cNvPicPr>
          <p:nvPr/>
        </p:nvPicPr>
        <p:blipFill>
          <a:blip r:embed="rId3"/>
          <a:stretch>
            <a:fillRect/>
          </a:stretch>
        </p:blipFill>
        <p:spPr>
          <a:xfrm>
            <a:off x="8705873" y="3136813"/>
            <a:ext cx="1705213" cy="1314633"/>
          </a:xfrm>
          <a:prstGeom prst="rect">
            <a:avLst/>
          </a:prstGeom>
        </p:spPr>
      </p:pic>
      <p:pic>
        <p:nvPicPr>
          <p:cNvPr id="12" name="Picture 11">
            <a:extLst>
              <a:ext uri="{FF2B5EF4-FFF2-40B4-BE49-F238E27FC236}">
                <a16:creationId xmlns:a16="http://schemas.microsoft.com/office/drawing/2014/main" id="{05D21AE4-C0D8-5D2B-D908-7E9DFBCFA22B}"/>
              </a:ext>
            </a:extLst>
          </p:cNvPr>
          <p:cNvPicPr>
            <a:picLocks noChangeAspect="1"/>
          </p:cNvPicPr>
          <p:nvPr/>
        </p:nvPicPr>
        <p:blipFill>
          <a:blip r:embed="rId4"/>
          <a:stretch>
            <a:fillRect/>
          </a:stretch>
        </p:blipFill>
        <p:spPr>
          <a:xfrm>
            <a:off x="8696347" y="4602777"/>
            <a:ext cx="1714739" cy="1276528"/>
          </a:xfrm>
          <a:prstGeom prst="rect">
            <a:avLst/>
          </a:prstGeom>
        </p:spPr>
      </p:pic>
    </p:spTree>
    <p:extLst>
      <p:ext uri="{BB962C8B-B14F-4D97-AF65-F5344CB8AC3E}">
        <p14:creationId xmlns:p14="http://schemas.microsoft.com/office/powerpoint/2010/main" val="394882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(ROC/AUC)</a:t>
            </a:r>
          </a:p>
        </p:txBody>
      </p:sp>
      <p:pic>
        <p:nvPicPr>
          <p:cNvPr id="8" name="Picture 7">
            <a:extLst>
              <a:ext uri="{FF2B5EF4-FFF2-40B4-BE49-F238E27FC236}">
                <a16:creationId xmlns:a16="http://schemas.microsoft.com/office/drawing/2014/main" id="{EA5C5221-373C-676B-F69C-1FA83BFB37B7}"/>
              </a:ext>
            </a:extLst>
          </p:cNvPr>
          <p:cNvPicPr>
            <a:picLocks noChangeAspect="1"/>
          </p:cNvPicPr>
          <p:nvPr/>
        </p:nvPicPr>
        <p:blipFill>
          <a:blip r:embed="rId2"/>
          <a:stretch>
            <a:fillRect/>
          </a:stretch>
        </p:blipFill>
        <p:spPr>
          <a:xfrm>
            <a:off x="3657600" y="1676400"/>
            <a:ext cx="4876800" cy="4948401"/>
          </a:xfrm>
          <a:prstGeom prst="rect">
            <a:avLst/>
          </a:prstGeom>
        </p:spPr>
      </p:pic>
    </p:spTree>
    <p:extLst>
      <p:ext uri="{BB962C8B-B14F-4D97-AF65-F5344CB8AC3E}">
        <p14:creationId xmlns:p14="http://schemas.microsoft.com/office/powerpoint/2010/main" val="26376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Post-Tuning</a:t>
            </a:r>
          </a:p>
        </p:txBody>
      </p:sp>
      <p:graphicFrame>
        <p:nvGraphicFramePr>
          <p:cNvPr id="3" name="Table 2">
            <a:extLst>
              <a:ext uri="{FF2B5EF4-FFF2-40B4-BE49-F238E27FC236}">
                <a16:creationId xmlns:a16="http://schemas.microsoft.com/office/drawing/2014/main" id="{B7F1A02A-3B49-804E-DB2B-B516E83CE22E}"/>
              </a:ext>
            </a:extLst>
          </p:cNvPr>
          <p:cNvGraphicFramePr>
            <a:graphicFrameLocks noGrp="1"/>
          </p:cNvGraphicFramePr>
          <p:nvPr>
            <p:extLst>
              <p:ext uri="{D42A27DB-BD31-4B8C-83A1-F6EECF244321}">
                <p14:modId xmlns:p14="http://schemas.microsoft.com/office/powerpoint/2010/main" val="4272105008"/>
              </p:ext>
            </p:extLst>
          </p:nvPr>
        </p:nvGraphicFramePr>
        <p:xfrm>
          <a:off x="2612173" y="4158783"/>
          <a:ext cx="6967655" cy="2525950"/>
        </p:xfrm>
        <a:graphic>
          <a:graphicData uri="http://schemas.openxmlformats.org/drawingml/2006/table">
            <a:tbl>
              <a:tblPr firstRow="1" bandRow="1">
                <a:tableStyleId>{21E4AEA4-8DFA-4A89-87EB-49C32662AFE0}</a:tableStyleId>
              </a:tblPr>
              <a:tblGrid>
                <a:gridCol w="1393531">
                  <a:extLst>
                    <a:ext uri="{9D8B030D-6E8A-4147-A177-3AD203B41FA5}">
                      <a16:colId xmlns:a16="http://schemas.microsoft.com/office/drawing/2014/main" val="3589545224"/>
                    </a:ext>
                  </a:extLst>
                </a:gridCol>
                <a:gridCol w="1393531">
                  <a:extLst>
                    <a:ext uri="{9D8B030D-6E8A-4147-A177-3AD203B41FA5}">
                      <a16:colId xmlns:a16="http://schemas.microsoft.com/office/drawing/2014/main" val="2589929194"/>
                    </a:ext>
                  </a:extLst>
                </a:gridCol>
                <a:gridCol w="1393531">
                  <a:extLst>
                    <a:ext uri="{9D8B030D-6E8A-4147-A177-3AD203B41FA5}">
                      <a16:colId xmlns:a16="http://schemas.microsoft.com/office/drawing/2014/main" val="1177213630"/>
                    </a:ext>
                  </a:extLst>
                </a:gridCol>
                <a:gridCol w="1393531">
                  <a:extLst>
                    <a:ext uri="{9D8B030D-6E8A-4147-A177-3AD203B41FA5}">
                      <a16:colId xmlns:a16="http://schemas.microsoft.com/office/drawing/2014/main" val="4152239825"/>
                    </a:ext>
                  </a:extLst>
                </a:gridCol>
                <a:gridCol w="1393531">
                  <a:extLst>
                    <a:ext uri="{9D8B030D-6E8A-4147-A177-3AD203B41FA5}">
                      <a16:colId xmlns:a16="http://schemas.microsoft.com/office/drawing/2014/main" val="2016944274"/>
                    </a:ext>
                  </a:extLst>
                </a:gridCol>
              </a:tblGrid>
              <a:tr h="622895">
                <a:tc>
                  <a:txBody>
                    <a:bodyPr/>
                    <a:lstStyle/>
                    <a:p>
                      <a:r>
                        <a:rPr lang="en-US" dirty="0"/>
                        <a:t>Model</a:t>
                      </a:r>
                    </a:p>
                  </a:txBody>
                  <a:tcPr/>
                </a:tc>
                <a:tc>
                  <a:txBody>
                    <a:bodyPr/>
                    <a:lstStyle/>
                    <a:p>
                      <a:r>
                        <a:rPr lang="en-US" dirty="0"/>
                        <a:t>Accuracy</a:t>
                      </a:r>
                    </a:p>
                  </a:txBody>
                  <a:tcPr/>
                </a:tc>
                <a:tc>
                  <a:txBody>
                    <a:bodyPr/>
                    <a:lstStyle/>
                    <a:p>
                      <a:r>
                        <a:rPr lang="en-US" dirty="0"/>
                        <a:t>Precision</a:t>
                      </a:r>
                    </a:p>
                  </a:txBody>
                  <a:tcPr/>
                </a:tc>
                <a:tc>
                  <a:txBody>
                    <a:bodyPr/>
                    <a:lstStyle/>
                    <a:p>
                      <a:r>
                        <a:rPr lang="en-US" dirty="0"/>
                        <a:t>Recall</a:t>
                      </a:r>
                    </a:p>
                  </a:txBody>
                  <a:tcPr/>
                </a:tc>
                <a:tc>
                  <a:txBody>
                    <a:bodyPr/>
                    <a:lstStyle/>
                    <a:p>
                      <a:r>
                        <a:rPr lang="en-US" dirty="0"/>
                        <a:t>F1 Score</a:t>
                      </a:r>
                    </a:p>
                  </a:txBody>
                  <a:tcPr/>
                </a:tc>
                <a:extLst>
                  <a:ext uri="{0D108BD9-81ED-4DB2-BD59-A6C34878D82A}">
                    <a16:rowId xmlns:a16="http://schemas.microsoft.com/office/drawing/2014/main" val="2210191525"/>
                  </a:ext>
                </a:extLst>
              </a:tr>
              <a:tr h="622895">
                <a:tc>
                  <a:txBody>
                    <a:bodyPr/>
                    <a:lstStyle/>
                    <a:p>
                      <a:r>
                        <a:rPr lang="en-US" dirty="0"/>
                        <a:t>Logistic Regression</a:t>
                      </a:r>
                    </a:p>
                  </a:txBody>
                  <a:tcPr/>
                </a:tc>
                <a:tc>
                  <a:txBody>
                    <a:bodyPr/>
                    <a:lstStyle/>
                    <a:p>
                      <a:r>
                        <a:rPr lang="en-US" dirty="0"/>
                        <a:t>0.857</a:t>
                      </a:r>
                    </a:p>
                  </a:txBody>
                  <a:tcPr/>
                </a:tc>
                <a:tc>
                  <a:txBody>
                    <a:bodyPr/>
                    <a:lstStyle/>
                    <a:p>
                      <a:r>
                        <a:rPr lang="en-US" dirty="0"/>
                        <a:t>0.833</a:t>
                      </a:r>
                    </a:p>
                  </a:txBody>
                  <a:tcPr/>
                </a:tc>
                <a:tc>
                  <a:txBody>
                    <a:bodyPr/>
                    <a:lstStyle/>
                    <a:p>
                      <a:r>
                        <a:rPr lang="en-US" dirty="0"/>
                        <a:t>0.891</a:t>
                      </a:r>
                    </a:p>
                  </a:txBody>
                  <a:tcPr/>
                </a:tc>
                <a:tc>
                  <a:txBody>
                    <a:bodyPr/>
                    <a:lstStyle/>
                    <a:p>
                      <a:r>
                        <a:rPr lang="en-US" dirty="0"/>
                        <a:t>0.861</a:t>
                      </a:r>
                    </a:p>
                  </a:txBody>
                  <a:tcPr/>
                </a:tc>
                <a:extLst>
                  <a:ext uri="{0D108BD9-81ED-4DB2-BD59-A6C34878D82A}">
                    <a16:rowId xmlns:a16="http://schemas.microsoft.com/office/drawing/2014/main" val="120969884"/>
                  </a:ext>
                </a:extLst>
              </a:tr>
              <a:tr h="622895">
                <a:tc>
                  <a:txBody>
                    <a:bodyPr/>
                    <a:lstStyle/>
                    <a:p>
                      <a:r>
                        <a:rPr lang="en-US" dirty="0"/>
                        <a:t>SVM</a:t>
                      </a:r>
                    </a:p>
                  </a:txBody>
                  <a:tcPr/>
                </a:tc>
                <a:tc>
                  <a:txBody>
                    <a:bodyPr/>
                    <a:lstStyle/>
                    <a:p>
                      <a:r>
                        <a:rPr lang="en-US" dirty="0"/>
                        <a:t>0.887</a:t>
                      </a:r>
                    </a:p>
                  </a:txBody>
                  <a:tcPr/>
                </a:tc>
                <a:tc>
                  <a:txBody>
                    <a:bodyPr/>
                    <a:lstStyle/>
                    <a:p>
                      <a:r>
                        <a:rPr lang="en-US" dirty="0"/>
                        <a:t>0.859</a:t>
                      </a:r>
                    </a:p>
                  </a:txBody>
                  <a:tcPr/>
                </a:tc>
                <a:tc>
                  <a:txBody>
                    <a:bodyPr/>
                    <a:lstStyle/>
                    <a:p>
                      <a:r>
                        <a:rPr lang="en-US" dirty="0"/>
                        <a:t>0.927</a:t>
                      </a:r>
                    </a:p>
                  </a:txBody>
                  <a:tcPr/>
                </a:tc>
                <a:tc>
                  <a:txBody>
                    <a:bodyPr/>
                    <a:lstStyle/>
                    <a:p>
                      <a:r>
                        <a:rPr lang="en-US" dirty="0"/>
                        <a:t>0.891</a:t>
                      </a:r>
                    </a:p>
                  </a:txBody>
                  <a:tcPr/>
                </a:tc>
                <a:extLst>
                  <a:ext uri="{0D108BD9-81ED-4DB2-BD59-A6C34878D82A}">
                    <a16:rowId xmlns:a16="http://schemas.microsoft.com/office/drawing/2014/main" val="3738283997"/>
                  </a:ext>
                </a:extLst>
              </a:tr>
              <a:tr h="622895">
                <a:tc>
                  <a:txBody>
                    <a:bodyPr/>
                    <a:lstStyle/>
                    <a:p>
                      <a:r>
                        <a:rPr lang="en-US" dirty="0"/>
                        <a:t>Decision Tree</a:t>
                      </a:r>
                    </a:p>
                  </a:txBody>
                  <a:tcPr/>
                </a:tc>
                <a:tc>
                  <a:txBody>
                    <a:bodyPr/>
                    <a:lstStyle/>
                    <a:p>
                      <a:r>
                        <a:rPr lang="en-US" dirty="0"/>
                        <a:t>0.914</a:t>
                      </a:r>
                    </a:p>
                  </a:txBody>
                  <a:tcPr/>
                </a:tc>
                <a:tc>
                  <a:txBody>
                    <a:bodyPr/>
                    <a:lstStyle/>
                    <a:p>
                      <a:r>
                        <a:rPr lang="en-US" dirty="0"/>
                        <a:t>0.908</a:t>
                      </a:r>
                    </a:p>
                  </a:txBody>
                  <a:tcPr/>
                </a:tc>
                <a:tc>
                  <a:txBody>
                    <a:bodyPr/>
                    <a:lstStyle/>
                    <a:p>
                      <a:r>
                        <a:rPr lang="en-US" dirty="0"/>
                        <a:t>0.922</a:t>
                      </a:r>
                    </a:p>
                  </a:txBody>
                  <a:tcPr/>
                </a:tc>
                <a:tc>
                  <a:txBody>
                    <a:bodyPr/>
                    <a:lstStyle/>
                    <a:p>
                      <a:r>
                        <a:rPr lang="en-US" dirty="0"/>
                        <a:t>0.915</a:t>
                      </a:r>
                    </a:p>
                  </a:txBody>
                  <a:tcPr/>
                </a:tc>
                <a:extLst>
                  <a:ext uri="{0D108BD9-81ED-4DB2-BD59-A6C34878D82A}">
                    <a16:rowId xmlns:a16="http://schemas.microsoft.com/office/drawing/2014/main" val="488530134"/>
                  </a:ext>
                </a:extLst>
              </a:tr>
            </a:tbl>
          </a:graphicData>
        </a:graphic>
      </p:graphicFrame>
      <p:pic>
        <p:nvPicPr>
          <p:cNvPr id="5" name="Picture 4">
            <a:extLst>
              <a:ext uri="{FF2B5EF4-FFF2-40B4-BE49-F238E27FC236}">
                <a16:creationId xmlns:a16="http://schemas.microsoft.com/office/drawing/2014/main" id="{4DF3BBF3-B025-07C4-C440-A0766A87BC22}"/>
              </a:ext>
            </a:extLst>
          </p:cNvPr>
          <p:cNvPicPr>
            <a:picLocks noChangeAspect="1"/>
          </p:cNvPicPr>
          <p:nvPr/>
        </p:nvPicPr>
        <p:blipFill>
          <a:blip r:embed="rId2"/>
          <a:stretch>
            <a:fillRect/>
          </a:stretch>
        </p:blipFill>
        <p:spPr>
          <a:xfrm>
            <a:off x="2612173" y="1524000"/>
            <a:ext cx="6967653" cy="2535566"/>
          </a:xfrm>
          <a:prstGeom prst="rect">
            <a:avLst/>
          </a:prstGeom>
        </p:spPr>
      </p:pic>
    </p:spTree>
    <p:extLst>
      <p:ext uri="{BB962C8B-B14F-4D97-AF65-F5344CB8AC3E}">
        <p14:creationId xmlns:p14="http://schemas.microsoft.com/office/powerpoint/2010/main" val="54710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430C-95F6-2B8E-8C0E-E489BFA1767C}"/>
              </a:ext>
            </a:extLst>
          </p:cNvPr>
          <p:cNvSpPr>
            <a:spLocks noGrp="1"/>
          </p:cNvSpPr>
          <p:nvPr>
            <p:ph type="title"/>
          </p:nvPr>
        </p:nvSpPr>
        <p:spPr/>
        <p:txBody>
          <a:bodyPr/>
          <a:lstStyle/>
          <a:p>
            <a:r>
              <a:rPr lang="en-US" dirty="0"/>
              <a:t>Best Model: Decision Tree</a:t>
            </a:r>
          </a:p>
        </p:txBody>
      </p:sp>
      <p:sp>
        <p:nvSpPr>
          <p:cNvPr id="3" name="Content Placeholder 2">
            <a:extLst>
              <a:ext uri="{FF2B5EF4-FFF2-40B4-BE49-F238E27FC236}">
                <a16:creationId xmlns:a16="http://schemas.microsoft.com/office/drawing/2014/main" id="{78894BF9-FEB8-B43D-8044-D1CDAE7F56DA}"/>
              </a:ext>
            </a:extLst>
          </p:cNvPr>
          <p:cNvSpPr>
            <a:spLocks noGrp="1"/>
          </p:cNvSpPr>
          <p:nvPr>
            <p:ph idx="1"/>
          </p:nvPr>
        </p:nvSpPr>
        <p:spPr/>
        <p:txBody>
          <a:bodyPr/>
          <a:lstStyle/>
          <a:p>
            <a:r>
              <a:rPr lang="en-US" dirty="0"/>
              <a:t>Best Accuracy (0.914)</a:t>
            </a:r>
          </a:p>
          <a:p>
            <a:r>
              <a:rPr lang="en-US" dirty="0"/>
              <a:t>Best F1 Score (0.915)</a:t>
            </a:r>
          </a:p>
          <a:p>
            <a:r>
              <a:rPr lang="en-US" dirty="0"/>
              <a:t>Strong interpretability</a:t>
            </a:r>
          </a:p>
          <a:p>
            <a:r>
              <a:rPr lang="en-US" dirty="0"/>
              <a:t>Better predictive power and interpretability versus other models deployed.</a:t>
            </a:r>
          </a:p>
        </p:txBody>
      </p:sp>
    </p:spTree>
    <p:extLst>
      <p:ext uri="{BB962C8B-B14F-4D97-AF65-F5344CB8AC3E}">
        <p14:creationId xmlns:p14="http://schemas.microsoft.com/office/powerpoint/2010/main" val="85960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CB42-73CE-DB01-605F-ECAA3287F817}"/>
              </a:ext>
            </a:extLst>
          </p:cNvPr>
          <p:cNvSpPr>
            <a:spLocks noGrp="1"/>
          </p:cNvSpPr>
          <p:nvPr>
            <p:ph type="title"/>
          </p:nvPr>
        </p:nvSpPr>
        <p:spPr/>
        <p:txBody>
          <a:bodyPr/>
          <a:lstStyle/>
          <a:p>
            <a:r>
              <a:rPr lang="en-US" dirty="0"/>
              <a:t>Lessons Learned</a:t>
            </a:r>
          </a:p>
        </p:txBody>
      </p:sp>
      <p:sp>
        <p:nvSpPr>
          <p:cNvPr id="3" name="Content Placeholder 2">
            <a:extLst>
              <a:ext uri="{FF2B5EF4-FFF2-40B4-BE49-F238E27FC236}">
                <a16:creationId xmlns:a16="http://schemas.microsoft.com/office/drawing/2014/main" id="{2316A951-3A7D-39F3-4385-8C4C0C290026}"/>
              </a:ext>
            </a:extLst>
          </p:cNvPr>
          <p:cNvSpPr>
            <a:spLocks noGrp="1"/>
          </p:cNvSpPr>
          <p:nvPr>
            <p:ph idx="1"/>
          </p:nvPr>
        </p:nvSpPr>
        <p:spPr/>
        <p:txBody>
          <a:bodyPr/>
          <a:lstStyle/>
          <a:p>
            <a:r>
              <a:rPr lang="en-US" dirty="0"/>
              <a:t>Highlights:</a:t>
            </a:r>
          </a:p>
          <a:p>
            <a:pPr lvl="1"/>
            <a:r>
              <a:rPr lang="en-US" dirty="0"/>
              <a:t>Highly effective models overall, especially decision tree.</a:t>
            </a:r>
          </a:p>
          <a:p>
            <a:pPr lvl="1"/>
            <a:r>
              <a:rPr lang="en-US" dirty="0"/>
              <a:t>Strong data cleaning.</a:t>
            </a:r>
          </a:p>
          <a:p>
            <a:pPr lvl="1"/>
            <a:endParaRPr lang="en-US" dirty="0"/>
          </a:p>
          <a:p>
            <a:r>
              <a:rPr lang="en-US" dirty="0"/>
              <a:t>Lowlights:</a:t>
            </a:r>
          </a:p>
          <a:p>
            <a:pPr lvl="1"/>
            <a:r>
              <a:rPr lang="en-US" dirty="0"/>
              <a:t>SMOTE</a:t>
            </a:r>
          </a:p>
          <a:p>
            <a:pPr lvl="1"/>
            <a:r>
              <a:rPr lang="en-US" dirty="0"/>
              <a:t>Best practice vs Scholarly</a:t>
            </a:r>
          </a:p>
          <a:p>
            <a:pPr lvl="1"/>
            <a:endParaRPr lang="en-US" dirty="0"/>
          </a:p>
          <a:p>
            <a:r>
              <a:rPr lang="en-US" dirty="0"/>
              <a:t>Improvements</a:t>
            </a:r>
          </a:p>
          <a:p>
            <a:pPr lvl="1"/>
            <a:r>
              <a:rPr lang="en-US" dirty="0"/>
              <a:t>More populous dataset.</a:t>
            </a:r>
          </a:p>
          <a:p>
            <a:pPr lvl="1"/>
            <a:r>
              <a:rPr lang="en-US" dirty="0"/>
              <a:t>Different implementation of SMOTE.</a:t>
            </a:r>
          </a:p>
        </p:txBody>
      </p:sp>
    </p:spTree>
    <p:extLst>
      <p:ext uri="{BB962C8B-B14F-4D97-AF65-F5344CB8AC3E}">
        <p14:creationId xmlns:p14="http://schemas.microsoft.com/office/powerpoint/2010/main" val="786978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961EB-7492-31EE-D8FE-C20E8167A9F7}"/>
              </a:ext>
            </a:extLst>
          </p:cNvPr>
          <p:cNvSpPr>
            <a:spLocks noGrp="1"/>
          </p:cNvSpPr>
          <p:nvPr>
            <p:ph type="title"/>
          </p:nvPr>
        </p:nvSpPr>
        <p:spPr/>
        <p:txBody>
          <a:bodyPr/>
          <a:lstStyle/>
          <a:p>
            <a:r>
              <a:rPr lang="en-US" dirty="0"/>
              <a:t>Deployment Plan</a:t>
            </a:r>
          </a:p>
        </p:txBody>
      </p:sp>
      <p:sp>
        <p:nvSpPr>
          <p:cNvPr id="3" name="Content Placeholder 2">
            <a:extLst>
              <a:ext uri="{FF2B5EF4-FFF2-40B4-BE49-F238E27FC236}">
                <a16:creationId xmlns:a16="http://schemas.microsoft.com/office/drawing/2014/main" id="{91481470-2F5E-ED58-3D18-90F8BF1B3F5C}"/>
              </a:ext>
            </a:extLst>
          </p:cNvPr>
          <p:cNvSpPr>
            <a:spLocks noGrp="1"/>
          </p:cNvSpPr>
          <p:nvPr>
            <p:ph idx="1"/>
          </p:nvPr>
        </p:nvSpPr>
        <p:spPr/>
        <p:txBody>
          <a:bodyPr>
            <a:normAutofit lnSpcReduction="10000"/>
          </a:bodyPr>
          <a:lstStyle/>
          <a:p>
            <a:r>
              <a:rPr lang="en-US" dirty="0"/>
              <a:t>DEPLOYR Framework</a:t>
            </a:r>
          </a:p>
          <a:p>
            <a:r>
              <a:rPr lang="en-US" dirty="0"/>
              <a:t>Exposed as a REST API.</a:t>
            </a:r>
          </a:p>
          <a:p>
            <a:r>
              <a:rPr lang="en-US" dirty="0"/>
              <a:t>HTTPS request using electronic medical records.</a:t>
            </a:r>
          </a:p>
          <a:p>
            <a:r>
              <a:rPr lang="en-US" dirty="0"/>
              <a:t>Inference performed on real-time data.</a:t>
            </a:r>
          </a:p>
          <a:p>
            <a:r>
              <a:rPr lang="en-US" dirty="0"/>
              <a:t>Sent to dashboard for continuous monitoring.</a:t>
            </a:r>
          </a:p>
          <a:p>
            <a:endParaRPr lang="en-US" dirty="0"/>
          </a:p>
          <a:p>
            <a:r>
              <a:rPr lang="en-US" dirty="0"/>
              <a:t>Strong in-house security needed.</a:t>
            </a:r>
          </a:p>
          <a:p>
            <a:r>
              <a:rPr lang="en-US" dirty="0"/>
              <a:t>Bias from a certain group of individuals needs to be kept an eye on.</a:t>
            </a:r>
          </a:p>
        </p:txBody>
      </p:sp>
    </p:spTree>
    <p:extLst>
      <p:ext uri="{BB962C8B-B14F-4D97-AF65-F5344CB8AC3E}">
        <p14:creationId xmlns:p14="http://schemas.microsoft.com/office/powerpoint/2010/main" val="1382567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ACD4-3056-4F7E-8197-8AF636B671D3}"/>
              </a:ext>
            </a:extLst>
          </p:cNvPr>
          <p:cNvSpPr>
            <a:spLocks noGrp="1"/>
          </p:cNvSpPr>
          <p:nvPr>
            <p:ph type="title"/>
          </p:nvPr>
        </p:nvSpPr>
        <p:spPr/>
        <p:txBody>
          <a:bodyPr/>
          <a:lstStyle/>
          <a:p>
            <a:r>
              <a:rPr lang="en-US" dirty="0"/>
              <a:t>Thank you!</a:t>
            </a:r>
          </a:p>
        </p:txBody>
      </p:sp>
      <p:pic>
        <p:nvPicPr>
          <p:cNvPr id="4" name="Picture 3">
            <a:extLst>
              <a:ext uri="{FF2B5EF4-FFF2-40B4-BE49-F238E27FC236}">
                <a16:creationId xmlns:a16="http://schemas.microsoft.com/office/drawing/2014/main" id="{D77B9D00-BBC1-0108-4B47-4BB28981970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24200" y="1981200"/>
            <a:ext cx="5562600" cy="3969674"/>
          </a:xfrm>
          <a:prstGeom prst="rect">
            <a:avLst/>
          </a:prstGeom>
        </p:spPr>
      </p:pic>
    </p:spTree>
    <p:extLst>
      <p:ext uri="{BB962C8B-B14F-4D97-AF65-F5344CB8AC3E}">
        <p14:creationId xmlns:p14="http://schemas.microsoft.com/office/powerpoint/2010/main" val="46230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105</TotalTime>
  <Words>394</Words>
  <Application>Microsoft Office PowerPoint</Application>
  <PresentationFormat>Widescreen</PresentationFormat>
  <Paragraphs>78</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Franklin Gothic Medium</vt:lpstr>
      <vt:lpstr>Medical Design 16x9</vt:lpstr>
      <vt:lpstr>Predicting Strokes Based on Healthcare Data</vt:lpstr>
      <vt:lpstr>Problem Statement and Project Context</vt:lpstr>
      <vt:lpstr>Critical Prior Work</vt:lpstr>
      <vt:lpstr>Data Preparation Summary</vt:lpstr>
      <vt:lpstr>Before vs After</vt:lpstr>
      <vt:lpstr>Model Deployment</vt:lpstr>
      <vt:lpstr>Results (ROC/AUC)</vt:lpstr>
      <vt:lpstr>Results Post-Tuning</vt:lpstr>
      <vt:lpstr>Best Model: Decision Tree</vt:lpstr>
      <vt:lpstr>Lessons Learned</vt:lpstr>
      <vt:lpstr>Deployment Plan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Collin Brueggeman</dc:creator>
  <cp:lastModifiedBy>Collin Brueggeman</cp:lastModifiedBy>
  <cp:revision>1</cp:revision>
  <dcterms:created xsi:type="dcterms:W3CDTF">2025-12-12T02:11:16Z</dcterms:created>
  <dcterms:modified xsi:type="dcterms:W3CDTF">2025-12-12T03:56:51Z</dcterms:modified>
</cp:coreProperties>
</file>